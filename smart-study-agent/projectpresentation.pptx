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90" r:id="rId3"/>
    <p:sldId id="291" r:id="rId4"/>
    <p:sldId id="292" r:id="rId6"/>
    <p:sldId id="293" r:id="rId7"/>
    <p:sldId id="294" r:id="rId8"/>
    <p:sldId id="295" r:id="rId9"/>
    <p:sldId id="296" r:id="rId10"/>
    <p:sldId id="297" r:id="rId11"/>
    <p:sldId id="298" r:id="rId12"/>
    <p:sldId id="299" r:id="rId13"/>
    <p:sldId id="301" r:id="rId14"/>
    <p:sldId id="302" r:id="rId15"/>
    <p:sldId id="303" r:id="rId16"/>
    <p:sldId id="304" r:id="rId17"/>
    <p:sldId id="305" r:id="rId18"/>
    <p:sldId id="306" r:id="rId19"/>
    <p:sldId id="307" r:id="rId20"/>
    <p:sldId id="308" r:id="rId21"/>
    <p:sldId id="309"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US"/>
                        <a:t>sujeet vishwakarma</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ssujeet6449@gmail.com</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7985885330</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pic>
        <p:nvPicPr>
          <p:cNvPr id="98" name="Google Shape;98;p2"/>
          <p:cNvPicPr preferRelativeResize="0"/>
          <p:nvPr/>
        </p:nvPicPr>
        <p:blipFill rotWithShape="1">
          <a:blip r:embed="rId1"/>
          <a:srcRect/>
          <a:stretch>
            <a:fillRect/>
          </a:stretch>
        </p:blipFill>
        <p:spPr>
          <a:xfrm flipH="1">
            <a:off x="7668260" y="1644015"/>
            <a:ext cx="97790" cy="76200"/>
          </a:xfrm>
          <a:prstGeom prst="rect">
            <a:avLst/>
          </a:prstGeom>
          <a:noFill/>
          <a:ln>
            <a:noFill/>
          </a:ln>
        </p:spPr>
      </p:pic>
      <p:sp>
        <p:nvSpPr>
          <p:cNvPr id="4" name="TextBox 3"/>
          <p:cNvSpPr txBox="1"/>
          <p:nvPr/>
        </p:nvSpPr>
        <p:spPr>
          <a:xfrm>
            <a:off x="1300144" y="1460724"/>
            <a:ext cx="10280254" cy="460375"/>
          </a:xfrm>
          <a:prstGeom prst="rect">
            <a:avLst/>
          </a:prstGeom>
          <a:noFill/>
        </p:spPr>
        <p:txBody>
          <a:bodyPr wrap="square" rtlCol="0">
            <a:spAutoFit/>
          </a:bodyPr>
          <a:lstStyle/>
          <a:p>
            <a:r>
              <a:rPr lang="en-US" sz="2400" b="1"/>
              <a:t>Domain of  Project – </a:t>
            </a:r>
            <a:r>
              <a:rPr lang="en-US" sz="2400" b="1">
                <a:highlight>
                  <a:srgbClr val="FFFF00"/>
                </a:highlight>
              </a:rPr>
              <a:t>[  Education  ]</a:t>
            </a:r>
            <a:endParaRPr lang="en-IN" sz="2400" b="1">
              <a:highlight>
                <a:srgbClr val="FFFF00"/>
              </a:highlight>
            </a:endParaRPr>
          </a:p>
        </p:txBody>
      </p:sp>
      <p:sp>
        <p:nvSpPr>
          <p:cNvPr id="7" name="TextBox 6"/>
          <p:cNvSpPr txBox="1"/>
          <p:nvPr/>
        </p:nvSpPr>
        <p:spPr>
          <a:xfrm>
            <a:off x="1206162" y="551965"/>
            <a:ext cx="9581177" cy="460375"/>
          </a:xfrm>
          <a:prstGeom prst="rect">
            <a:avLst/>
          </a:prstGeom>
          <a:noFill/>
        </p:spPr>
        <p:txBody>
          <a:bodyPr wrap="square" rtlCol="0">
            <a:spAutoFit/>
          </a:bodyPr>
          <a:lstStyle/>
          <a:p>
            <a:r>
              <a:rPr lang="en-US" sz="2400" b="1"/>
              <a:t>Project Tile – </a:t>
            </a:r>
            <a:r>
              <a:rPr lang="en-US" sz="2400" b="1">
                <a:highlight>
                  <a:srgbClr val="FFFF00"/>
                </a:highlight>
              </a:rPr>
              <a:t>[</a:t>
            </a:r>
            <a:r>
              <a:rPr lang="en-US" altLang="en-US" sz="2400" b="1">
                <a:highlight>
                  <a:srgbClr val="FFFF00"/>
                </a:highlight>
              </a:rPr>
              <a:t>Smart Study Generator Agent </a:t>
            </a:r>
            <a:r>
              <a:rPr lang="en-US" sz="2400" b="1">
                <a:highlight>
                  <a:srgbClr val="FFFF00"/>
                </a:highlight>
              </a:rPr>
              <a:t>]</a:t>
            </a:r>
            <a:endParaRPr lang="en-IN" sz="2400" b="1">
              <a:highlight>
                <a:srgbClr val="FFFF00"/>
              </a:highlight>
            </a:endParaRPr>
          </a:p>
        </p:txBody>
      </p:sp>
      <p:sp>
        <p:nvSpPr>
          <p:cNvPr id="3" name="TextBox 2"/>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endParaRPr lang="en-US" sz="2000">
              <a:solidFill>
                <a:srgbClr val="FF0000"/>
              </a:solidFill>
            </a:endParaRPr>
          </a:p>
          <a:p>
            <a:r>
              <a:rPr lang="en-US" sz="2000">
                <a:solidFill>
                  <a:srgbClr val="FF0000"/>
                </a:solidFill>
              </a:rPr>
              <a:t>Font Size (Content): 20</a:t>
            </a:r>
            <a:endParaRPr lang="en-US" sz="2000">
              <a:solidFill>
                <a:srgbClr val="FF0000"/>
              </a:solidFill>
            </a:endParaRPr>
          </a:p>
        </p:txBody>
      </p:sp>
      <p:pic>
        <p:nvPicPr>
          <p:cNvPr id="6" name="Picture 5" descr="photo linkdin black professional4"/>
          <p:cNvPicPr>
            <a:picLocks noChangeAspect="1"/>
          </p:cNvPicPr>
          <p:nvPr/>
        </p:nvPicPr>
        <p:blipFill>
          <a:blip r:embed="rId2"/>
          <a:stretch>
            <a:fillRect/>
          </a:stretch>
        </p:blipFill>
        <p:spPr>
          <a:xfrm>
            <a:off x="3694430" y="3542665"/>
            <a:ext cx="1224915" cy="12249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615815"/>
          </a:xfrm>
          <a:prstGeom prst="rect">
            <a:avLst/>
          </a:prstGeom>
          <a:noFill/>
        </p:spPr>
        <p:txBody>
          <a:bodyPr wrap="square" rtlCol="0">
            <a:spAutoFit/>
          </a:bodyPr>
          <a:lstStyle/>
          <a:p>
            <a:pPr fontAlgn="base"/>
            <a:r>
              <a:rPr lang="en-US" altLang="en-US"/>
              <a:t>Problem Statement No.13: Smart Study Generator Agent The Challenge 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endParaRPr lang="en-US" altLang="en-US"/>
          </a:p>
          <a:p>
            <a:pPr fontAlgn="base"/>
            <a:endParaRPr lang="en-US" altLang="en-US"/>
          </a:p>
          <a:p>
            <a:pPr fontAlgn="base"/>
            <a:r>
              <a:rPr lang="en-US" altLang="en-US"/>
              <a:t> The Objective : </a:t>
            </a:r>
            <a:endParaRPr lang="en-US" altLang="en-US"/>
          </a:p>
          <a:p>
            <a:pPr fontAlgn="base"/>
            <a:endParaRPr lang="en-US" altLang="en-US"/>
          </a:p>
          <a:p>
            <a:pPr fontAlgn="base"/>
            <a:r>
              <a:rPr lang="en-US" altLang="en-US"/>
              <a:t>Build an agentic AI-powered Smart Study Generator that personalizes and streamlines learning for students. </a:t>
            </a:r>
            <a:endParaRPr lang="en-US" altLang="en-US"/>
          </a:p>
          <a:p>
            <a:pPr fontAlgn="base"/>
            <a:r>
              <a:rPr lang="en-US" altLang="en-US"/>
              <a:t>The solution should:</a:t>
            </a:r>
            <a:endParaRPr lang="en-US" altLang="en-US"/>
          </a:p>
          <a:p>
            <a:pPr fontAlgn="base"/>
            <a:endParaRPr lang="en-US" altLang="en-US"/>
          </a:p>
          <a:p>
            <a:pPr fontAlgn="base"/>
            <a:r>
              <a:rPr lang="en-US" altLang="en-US"/>
              <a:t> 1. Fuse Learning Resources: Aggregate content from class notes, textbooks, research articles, and online tutorials into structured, easy-to-digest study material. </a:t>
            </a:r>
            <a:endParaRPr lang="en-US" altLang="en-US"/>
          </a:p>
          <a:p>
            <a:pPr fontAlgn="base"/>
            <a:r>
              <a:rPr lang="en-US" altLang="en-US"/>
              <a:t>2. Enable Multimodal Input: Allow students to upload notes, voice queries, or images (e.g., textbook pages), and generate concise summaries, flashcards, or concept maps.</a:t>
            </a:r>
            <a:endParaRPr lang="en-US" altLang="en-US"/>
          </a:p>
          <a:p>
            <a:pPr fontAlgn="base"/>
            <a:r>
              <a:rPr lang="en-US" altLang="en-US"/>
              <a:t> 3. Create a Predictive &amp; Agentic Layer: Recommend personalized study plans, highlight important topics based on syllabus or past exams, and provide predictive alerts (e.g., “Focus on Topic X—frequently asked in exams”). </a:t>
            </a:r>
            <a:endParaRPr lang="en-US" altLang="en-US"/>
          </a:p>
          <a:p>
            <a:pPr fontAlgn="base"/>
            <a:r>
              <a:rPr lang="en-US" altLang="en-US"/>
              <a:t>4. Visualize Study Progress: Offer a real-time dashboard showing learning milestones, weak areas, practice quizzes, and performance forecasts. </a:t>
            </a:r>
            <a:endParaRPr lang="en-US" altLang="en-US"/>
          </a:p>
          <a:p>
            <a:endParaRPr lang="en-IN"/>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3538220"/>
          </a:xfrm>
          <a:prstGeom prst="rect">
            <a:avLst/>
          </a:prstGeom>
          <a:noFill/>
        </p:spPr>
        <p:txBody>
          <a:bodyPr wrap="square" rtlCol="0">
            <a:spAutoFit/>
          </a:bodyPr>
          <a:lstStyle/>
          <a:p>
            <a:pPr fontAlgn="base"/>
            <a:endParaRPr lang="en-US" b="1"/>
          </a:p>
          <a:p>
            <a:r>
              <a:rPr lang="en-US" altLang="en-US" b="1"/>
              <a:t>We propose an Agentic AI-powered Smart Study Generator that acts as a personalized study companion for students.</a:t>
            </a:r>
            <a:endParaRPr lang="en-US" altLang="en-US" b="1"/>
          </a:p>
          <a:p>
            <a:endParaRPr lang="en-US" altLang="en-US" b="1"/>
          </a:p>
          <a:p>
            <a:r>
              <a:rPr lang="en-US" altLang="en-US" b="1"/>
              <a:t>Upload notes, PDFs, textbook images, syllabus and previous-year papers</a:t>
            </a:r>
            <a:endParaRPr lang="en-US" altLang="en-US" b="1"/>
          </a:p>
          <a:p>
            <a:r>
              <a:rPr lang="en-US" altLang="en-US" b="1"/>
              <a:t>Generate summaries, study notes, flashcards, quizzes and concept maps</a:t>
            </a:r>
            <a:endParaRPr lang="en-US" altLang="en-US" b="1"/>
          </a:p>
          <a:p>
            <a:r>
              <a:rPr lang="en-US" altLang="en-US" b="1"/>
              <a:t>Analyze syllabus and previous-year papers to identify important topics</a:t>
            </a:r>
            <a:endParaRPr lang="en-US" altLang="en-US" b="1"/>
          </a:p>
          <a:p>
            <a:r>
              <a:rPr lang="en-US" altLang="en-US" b="1"/>
              <a:t>Create personalized study plans based on exam date, available time and weak areas</a:t>
            </a:r>
            <a:endParaRPr lang="en-US" altLang="en-US" b="1"/>
          </a:p>
          <a:p>
            <a:r>
              <a:rPr lang="en-US" altLang="en-US" b="1"/>
              <a:t>Provide AI-powered recommendations and revision alerts</a:t>
            </a:r>
            <a:endParaRPr lang="en-US" altLang="en-US" b="1"/>
          </a:p>
          <a:p>
            <a:r>
              <a:rPr lang="en-US" altLang="en-US" b="1"/>
              <a:t>Track progress, quiz performance, milestones and weak topics through a dashboard</a:t>
            </a:r>
            <a:endParaRPr lang="en-US" altLang="en-US" b="1"/>
          </a:p>
          <a:p>
            <a:r>
              <a:rPr lang="en-US" altLang="en-US" b="1"/>
              <a:t>Support text, document, image and voice-based learning queries</a:t>
            </a:r>
            <a:endParaRPr lang="en-US" altLang="en-US" b="1"/>
          </a:p>
          <a:p>
            <a:r>
              <a:rPr lang="en-US" altLang="en-US" b="1"/>
              <a:t>Developed using IBM Bob + Groq API + Qwen qwen/qwen3.8-27b</a:t>
            </a:r>
            <a:endParaRPr lang="en-US" altLang="en-US" b="1"/>
          </a:p>
          <a:p>
            <a:endParaRPr lang="en-US" altLang="en-US" b="1"/>
          </a:p>
          <a:p>
            <a:r>
              <a:rPr lang="en-US" altLang="en-US" b="1"/>
              <a:t>Last line:</a:t>
            </a:r>
            <a:endParaRPr lang="en-US" altLang="en-US" b="1"/>
          </a:p>
          <a:p>
            <a:endParaRPr lang="en-US" altLang="en-US" b="1"/>
          </a:p>
          <a:p>
            <a:r>
              <a:rPr lang="en-US" altLang="en-US" b="1"/>
              <a:t>Our goal is to transform scattered study resources into an intelligent, adaptive and personalized learning experience.</a:t>
            </a:r>
            <a:endParaRPr lang="en-US" altLang="en-US" b="1"/>
          </a:p>
          <a:p>
            <a:endParaRPr lang="en-IN"/>
          </a:p>
        </p:txBody>
      </p:sp>
      <p:sp>
        <p:nvSpPr>
          <p:cNvPr id="3" name="TextBox 2"/>
          <p:cNvSpPr txBox="1"/>
          <p:nvPr/>
        </p:nvSpPr>
        <p:spPr>
          <a:xfrm>
            <a:off x="399542" y="704088"/>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980440" y="1601343"/>
            <a:ext cx="10515600" cy="3846195"/>
          </a:xfrm>
          <a:prstGeom prst="rect">
            <a:avLst/>
          </a:prstGeom>
          <a:noFill/>
        </p:spPr>
        <p:txBody>
          <a:bodyPr wrap="square" rtlCol="0">
            <a:spAutoFit/>
          </a:bodyPr>
          <a:lstStyle/>
          <a:p>
            <a:pPr marL="285750" indent="-285750">
              <a:buFont typeface="Arial" panose="020B0604020202020204" pitchFamily="34" charset="0"/>
              <a:buChar char="•"/>
            </a:pPr>
            <a:r>
              <a:rPr lang="en-US" sz="1800" b="1"/>
              <a:t> </a:t>
            </a:r>
            <a:endParaRPr lang="en-IN" sz="1800"/>
          </a:p>
          <a:p>
            <a:pPr marL="285750" indent="-285750">
              <a:buFont typeface="Arial" panose="020B0604020202020204" pitchFamily="34" charset="0"/>
              <a:buChar char="•"/>
            </a:pPr>
            <a:r>
              <a:rPr lang="en-US" altLang="en-US" sz="1800"/>
              <a:t> IBM Bob – AI-assisted development</a:t>
            </a:r>
            <a:endParaRPr lang="en-US" altLang="en-US" sz="1800"/>
          </a:p>
          <a:p>
            <a:pPr marL="285750" indent="-285750">
              <a:buFont typeface="Arial" panose="020B0604020202020204" pitchFamily="34" charset="0"/>
              <a:buChar char="•"/>
            </a:pPr>
            <a:r>
              <a:rPr lang="en-US" altLang="en-US" sz="1800"/>
              <a:t>Groq API – LLM integration</a:t>
            </a:r>
            <a:endParaRPr lang="en-US" altLang="en-US" sz="1800"/>
          </a:p>
          <a:p>
            <a:pPr marL="285750" indent="-285750">
              <a:buFont typeface="Arial" panose="020B0604020202020204" pitchFamily="34" charset="0"/>
              <a:buChar char="•"/>
            </a:pPr>
            <a:r>
              <a:rPr lang="en-US" altLang="en-US" sz="1800"/>
              <a:t>Qwen qwen/qwen3.8-27b – Large Language Model</a:t>
            </a:r>
            <a:endParaRPr lang="en-US" altLang="en-US" sz="1800"/>
          </a:p>
          <a:p>
            <a:pPr marL="285750" indent="-285750">
              <a:buFont typeface="Arial" panose="020B0604020202020204" pitchFamily="34" charset="0"/>
              <a:buChar char="•"/>
            </a:pPr>
            <a:r>
              <a:rPr lang="en-US" altLang="en-US" sz="1800"/>
              <a:t>HTML5 &amp; CSS3 – Web interface and responsive design</a:t>
            </a:r>
            <a:endParaRPr lang="en-US" altLang="en-US" sz="1800"/>
          </a:p>
          <a:p>
            <a:pPr marL="285750" indent="-285750">
              <a:buFont typeface="Arial" panose="020B0604020202020204" pitchFamily="34" charset="0"/>
              <a:buChar char="•"/>
            </a:pPr>
            <a:r>
              <a:rPr lang="en-US" altLang="en-US" sz="1800"/>
              <a:t>JavaScript – Frontend functionality</a:t>
            </a:r>
            <a:endParaRPr lang="en-US" altLang="en-US" sz="1800"/>
          </a:p>
          <a:p>
            <a:pPr marL="285750" indent="-285750">
              <a:buFont typeface="Arial" panose="020B0604020202020204" pitchFamily="34" charset="0"/>
              <a:buChar char="•"/>
            </a:pPr>
            <a:r>
              <a:rPr lang="en-US" altLang="en-US" sz="1800"/>
              <a:t>Python &amp; Flask – Backend and Agentic AI logic</a:t>
            </a:r>
            <a:endParaRPr lang="en-US" altLang="en-US" sz="1800"/>
          </a:p>
          <a:p>
            <a:pPr marL="285750" indent="-285750">
              <a:buFont typeface="Arial" panose="020B0604020202020204" pitchFamily="34" charset="0"/>
              <a:buChar char="•"/>
            </a:pPr>
            <a:r>
              <a:rPr lang="en-US" altLang="en-US" sz="1800"/>
              <a:t>PDF/Image Processing – Study material analysis</a:t>
            </a:r>
            <a:endParaRPr lang="en-US" altLang="en-US" sz="1800"/>
          </a:p>
          <a:p>
            <a:pPr marL="285750" indent="-285750">
              <a:buFont typeface="Arial" panose="020B0604020202020204" pitchFamily="34" charset="0"/>
              <a:buChar char="•"/>
            </a:pPr>
            <a:r>
              <a:rPr lang="en-US" altLang="en-US" sz="1800"/>
              <a:t>Chart.js – Study progress visualization</a:t>
            </a:r>
            <a:endParaRPr lang="en-US" altLang="en-US" sz="1800"/>
          </a:p>
          <a:p>
            <a:pPr marL="285750" indent="-285750">
              <a:buFont typeface="Arial" panose="020B0604020202020204" pitchFamily="34" charset="0"/>
              <a:buChar char="•"/>
            </a:pPr>
            <a:r>
              <a:rPr lang="en-US" altLang="en-US" sz="1800"/>
              <a:t>python-dotenv – Secure API key management</a:t>
            </a:r>
            <a:endParaRPr lang="en-US" alt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Required Files created using IBM bob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3538220"/>
          </a:xfrm>
          <a:prstGeom prst="rect">
            <a:avLst/>
          </a:prstGeom>
          <a:noFill/>
        </p:spPr>
        <p:txBody>
          <a:bodyPr wrap="square" rtlCol="0">
            <a:spAutoFit/>
          </a:bodyPr>
          <a:lstStyle/>
          <a:p>
            <a:pPr marL="342900" indent="-342900">
              <a:buFont typeface="+mj-lt"/>
              <a:buAutoNum type="arabicPeriod"/>
            </a:pPr>
            <a:r>
              <a:rPr lang="en-US" altLang="en-US"/>
              <a:t>app.py</a:t>
            </a:r>
            <a:endParaRPr lang="en-US" altLang="en-US"/>
          </a:p>
          <a:p>
            <a:pPr marL="342900" indent="-342900">
              <a:buFont typeface="+mj-lt"/>
              <a:buAutoNum type="arabicPeriod"/>
            </a:pPr>
            <a:r>
              <a:rPr lang="en-US" altLang="en-US"/>
              <a:t>agent.py</a:t>
            </a:r>
            <a:endParaRPr lang="en-US" altLang="en-US"/>
          </a:p>
          <a:p>
            <a:pPr marL="342900" indent="-342900">
              <a:buFont typeface="+mj-lt"/>
              <a:buAutoNum type="arabicPeriod"/>
            </a:pPr>
            <a:r>
              <a:rPr lang="en-US" altLang="en-US"/>
              <a:t>index.html</a:t>
            </a:r>
            <a:endParaRPr lang="en-US" altLang="en-US"/>
          </a:p>
          <a:p>
            <a:pPr marL="342900" indent="-342900">
              <a:buFont typeface="+mj-lt"/>
              <a:buAutoNum type="arabicPeriod"/>
            </a:pPr>
            <a:r>
              <a:rPr lang="en-US" altLang="en-US"/>
              <a:t>style.css</a:t>
            </a:r>
            <a:endParaRPr lang="en-US" altLang="en-US"/>
          </a:p>
          <a:p>
            <a:pPr marL="342900" indent="-342900">
              <a:buFont typeface="+mj-lt"/>
              <a:buAutoNum type="arabicPeriod"/>
            </a:pPr>
            <a:r>
              <a:rPr lang="en-US" altLang="en-US"/>
              <a:t>requirements.txt</a:t>
            </a:r>
            <a:endParaRPr lang="en-US" altLang="en-US"/>
          </a:p>
          <a:p>
            <a:pPr marL="342900" indent="-342900">
              <a:buFont typeface="+mj-lt"/>
              <a:buAutoNum type="arabicPeriod"/>
            </a:pPr>
            <a:r>
              <a:rPr lang="en-US" altLang="en-US"/>
              <a:t>.env</a:t>
            </a:r>
            <a:endParaRPr lang="en-US" altLang="en-US"/>
          </a:p>
          <a:p>
            <a:pPr marL="342900" indent="-342900">
              <a:buFont typeface="+mj-lt"/>
              <a:buAutoNum type="arabicPeriod"/>
            </a:pPr>
            <a:r>
              <a:rPr lang="en-US" altLang="en-US"/>
              <a:t>smart_study_agent_plan.md</a:t>
            </a:r>
            <a:endParaRPr lang="en-US" altLang="en-US"/>
          </a:p>
          <a:p>
            <a:pPr marL="342900" indent="-342900">
              <a:buFont typeface="+mj-lt"/>
              <a:buAutoNum type="arabicPeriod"/>
            </a:pPr>
            <a:r>
              <a:rPr lang="en-US" altLang="en-US"/>
              <a:t>setup_and_run.bat</a:t>
            </a:r>
            <a:endParaRPr lang="en-US" alt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3" name="Picture 2"/>
          <p:cNvPicPr>
            <a:picLocks noChangeAspect="1"/>
          </p:cNvPicPr>
          <p:nvPr/>
        </p:nvPicPr>
        <p:blipFill>
          <a:blip r:embed="rId1"/>
          <a:stretch>
            <a:fillRect/>
          </a:stretch>
        </p:blipFill>
        <p:spPr>
          <a:xfrm flipV="1">
            <a:off x="3496310" y="6472555"/>
            <a:ext cx="93345" cy="76200"/>
          </a:xfrm>
          <a:prstGeom prst="rect">
            <a:avLst/>
          </a:prstGeom>
        </p:spPr>
      </p:pic>
      <p:sp>
        <p:nvSpPr>
          <p:cNvPr id="9" name="Rectangle 8"/>
          <p:cNvSpPr/>
          <p:nvPr/>
        </p:nvSpPr>
        <p:spPr>
          <a:xfrm>
            <a:off x="4013862" y="1690157"/>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descr="Screenshot (952)"/>
          <p:cNvPicPr>
            <a:picLocks noChangeAspect="1"/>
          </p:cNvPicPr>
          <p:nvPr/>
        </p:nvPicPr>
        <p:blipFill>
          <a:blip r:embed="rId2"/>
          <a:stretch>
            <a:fillRect/>
          </a:stretch>
        </p:blipFill>
        <p:spPr>
          <a:xfrm>
            <a:off x="2781300" y="862965"/>
            <a:ext cx="9054465" cy="50933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IBM Bob Screenshots:</a:t>
            </a:r>
            <a:endParaRPr sz="2400" b="1">
              <a:sym typeface="Times New Roman" panose="02020603050405020304"/>
            </a:endParaRPr>
          </a:p>
        </p:txBody>
      </p:sp>
      <p:pic>
        <p:nvPicPr>
          <p:cNvPr id="3" name="Picture 2" descr="Screenshot (967)"/>
          <p:cNvPicPr>
            <a:picLocks noChangeAspect="1"/>
          </p:cNvPicPr>
          <p:nvPr/>
        </p:nvPicPr>
        <p:blipFill>
          <a:blip r:embed="rId1"/>
          <a:stretch>
            <a:fillRect/>
          </a:stretch>
        </p:blipFill>
        <p:spPr>
          <a:xfrm>
            <a:off x="119380" y="124460"/>
            <a:ext cx="12072620" cy="67335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957)"/>
          <p:cNvPicPr>
            <a:picLocks noChangeAspect="1"/>
          </p:cNvPicPr>
          <p:nvPr/>
        </p:nvPicPr>
        <p:blipFill>
          <a:blip r:embed="rId1"/>
          <a:stretch>
            <a:fillRect/>
          </a:stretch>
        </p:blipFill>
        <p:spPr>
          <a:xfrm>
            <a:off x="0" y="171450"/>
            <a:ext cx="12192000" cy="66859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panose="020F0502020204030204"/>
                <a:ea typeface="Calibri" panose="020F0502020204030204"/>
                <a:cs typeface="Calibri" panose="020F0502020204030204"/>
                <a:sym typeface="Calibri" panose="020F0502020204030204"/>
              </a:rPr>
              <a:t>Architecture blueprint for IBM bob:</a:t>
            </a:r>
            <a:endParaRPr lang="en-US" sz="2400"/>
          </a:p>
        </p:txBody>
      </p:sp>
      <p:pic>
        <p:nvPicPr>
          <p:cNvPr id="3" name="Picture 2" descr="Screenshot (959)"/>
          <p:cNvPicPr>
            <a:picLocks noChangeAspect="1"/>
          </p:cNvPicPr>
          <p:nvPr/>
        </p:nvPicPr>
        <p:blipFill>
          <a:blip r:embed="rId1"/>
          <a:stretch>
            <a:fillRect/>
          </a:stretch>
        </p:blipFill>
        <p:spPr>
          <a:xfrm>
            <a:off x="1795145" y="944880"/>
            <a:ext cx="8896350" cy="58007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792" y="1167493"/>
            <a:ext cx="7406640" cy="4615815"/>
          </a:xfrm>
          <a:prstGeom prst="rect">
            <a:avLst/>
          </a:prstGeom>
          <a:noFill/>
        </p:spPr>
        <p:txBody>
          <a:bodyPr wrap="square" rtlCol="0">
            <a:spAutoFit/>
          </a:bodyPr>
          <a:lstStyle/>
          <a:p>
            <a:r>
              <a:rPr lang="en-US" altLang="en-US"/>
              <a:t>Role of Agentic AI in Smart Study Generator</a:t>
            </a:r>
            <a:endParaRPr lang="en-US" altLang="en-US"/>
          </a:p>
          <a:p>
            <a:r>
              <a:rPr lang="en-US" altLang="en-US"/>
              <a:t>The Smart Study Generator uses an AI agent to act as a personalized study companion rather than a simple chatbot. The agent processes the student's questions, profile, uploaded study material, progress, and conversation history to generate relevant and personalized responses.</a:t>
            </a:r>
            <a:endParaRPr lang="en-US" altLang="en-US"/>
          </a:p>
          <a:p>
            <a:endParaRPr lang="en-US" altLang="en-US"/>
          </a:p>
          <a:p>
            <a:r>
              <a:rPr lang="en-US" altLang="en-US"/>
              <a:t>It can analyze uploaded learning materials, explain concepts, answer study-related questions, and generate personalized study plans based on subjects, exam date, available study hours, preparation level, and current progress.</a:t>
            </a:r>
            <a:endParaRPr lang="en-US" altLang="en-US"/>
          </a:p>
          <a:p>
            <a:endParaRPr lang="en-US" altLang="en-US"/>
          </a:p>
          <a:p>
            <a:r>
              <a:rPr lang="en-US" altLang="en-US"/>
              <a:t>The system also tracks completed topics, quiz scores, weak areas, and milestones to support continuous learning and progress monitoring.</a:t>
            </a:r>
            <a:endParaRPr lang="en-US" altLang="en-US"/>
          </a:p>
          <a:p>
            <a:endParaRPr lang="en-US" altLang="en-US"/>
          </a:p>
          <a:p>
            <a:r>
              <a:rPr lang="en-US" altLang="en-US"/>
              <a:t>A safety layer checks user queries and uploaded content for prompt-injection attempts before the AI processes them, helping keep the study assistant focused on its intended educational role.</a:t>
            </a:r>
            <a:endParaRPr lang="en-US" altLang="en-US"/>
          </a:p>
          <a:p>
            <a:endParaRPr lang="en-US" altLang="en-US"/>
          </a:p>
          <a:p>
            <a:r>
              <a:rPr lang="en-US" altLang="en-US"/>
              <a:t>Overall, Agentic AI makes the system personalized, context-aware, adaptive, and focused on improving the student's study workflow.</a:t>
            </a:r>
            <a:endParaRPr lang="en-US" altLang="en-US"/>
          </a:p>
          <a:p>
            <a:endParaRPr lang="en-US" altLang="en-US"/>
          </a:p>
          <a:p>
            <a:r>
              <a:rPr lang="en-US" altLang="en-US"/>
              <a:t> </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3" name="Picture 2" descr="Screenshot (957)"/>
          <p:cNvPicPr>
            <a:picLocks noChangeAspect="1"/>
          </p:cNvPicPr>
          <p:nvPr/>
        </p:nvPicPr>
        <p:blipFill>
          <a:blip r:embed="rId1"/>
          <a:stretch>
            <a:fillRect/>
          </a:stretch>
        </p:blipFill>
        <p:spPr>
          <a:xfrm>
            <a:off x="722630" y="24511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4" name="Picture 3" descr="Screenshot (967)"/>
          <p:cNvPicPr>
            <a:picLocks noChangeAspect="1"/>
          </p:cNvPicPr>
          <p:nvPr/>
        </p:nvPicPr>
        <p:blipFill>
          <a:blip r:embed="rId1"/>
          <a:stretch>
            <a:fillRect/>
          </a:stretch>
        </p:blipFill>
        <p:spPr>
          <a:xfrm>
            <a:off x="-113030" y="-838835"/>
            <a:ext cx="1207262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3" name="Picture 2"/>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949960" y="40462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1301984" cy="2030095"/>
          </a:xfrm>
          <a:prstGeom prst="rect">
            <a:avLst/>
          </a:prstGeom>
          <a:noFill/>
        </p:spPr>
        <p:txBody>
          <a:bodyPr wrap="square" rtlCol="0">
            <a:spAutoFit/>
          </a:bodyPr>
          <a:lstStyle/>
          <a:p>
            <a:r>
              <a:rPr lang="en-US" altLang="en-US"/>
              <a:t>Smart Study Generator Agent stands out by combining multiple study-support capabilities into one personalized AI platform:</a:t>
            </a:r>
            <a:endParaRPr lang="en-US" altLang="en-US"/>
          </a:p>
          <a:p>
            <a:endParaRPr lang="en-US" altLang="en-US"/>
          </a:p>
          <a:p>
            <a:r>
              <a:rPr lang="en-US" altLang="en-US"/>
              <a:t>Personalized Study Planning – Generates study plans based on subjects, exam date, available study hours, preparation level, and progress.</a:t>
            </a:r>
            <a:endParaRPr lang="en-US" altLang="en-US"/>
          </a:p>
          <a:p>
            <a:r>
              <a:rPr lang="en-US" altLang="en-US"/>
              <a:t>Context-Aware AI Assistance – Uses the student's profile, uploaded study material, previous conversation, and progress to provide relevant responses.</a:t>
            </a:r>
            <a:endParaRPr lang="en-US" altLang="en-US"/>
          </a:p>
          <a:p>
            <a:r>
              <a:rPr lang="en-US" altLang="en-US"/>
              <a:t>Study Material Analysis – Students can upload PDFs, text files, and images for AI-assisted learning.</a:t>
            </a:r>
            <a:endParaRPr lang="en-US" altLang="en-US"/>
          </a:p>
          <a:p>
            <a:r>
              <a:rPr lang="en-US" altLang="en-US"/>
              <a:t>Adaptive Progress Tracking – Tracks completed topics, quiz performance, weak areas, and milestones.</a:t>
            </a:r>
            <a:endParaRPr lang="en-US" altLang="en-US"/>
          </a:p>
          <a:p>
            <a:r>
              <a:rPr lang="en-US" altLang="en-US"/>
              <a:t>Safety-Aware AI – Includes protection against prompt-injection attempts and sanitizes uploaded content.</a:t>
            </a:r>
            <a:endParaRPr lang="en-US" altLang="en-US"/>
          </a:p>
          <a:p>
            <a:r>
              <a:rPr lang="en-US" altLang="en-US"/>
              <a:t>Continuous Personalization – The system updates the student's study context and plan as their progress changes.</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Please create public </a:t>
            </a:r>
            <a:r>
              <a:rPr lang="en-US" sz="1850" b="0" i="0" u="none" strike="noStrike" cap="none"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endPar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endPar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pP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b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1) All Agent relevant files of IBM Cloud , 2) yourproblemstatement.pdf file  3) your projectpresntation.pptx file 4)any other files </a:t>
            </a:r>
            <a:endPar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1.Integration with Wearables &amp; Health Devices – </a:t>
            </a:r>
            <a:endParaRPr lang="en-US" sz="185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2.</a:t>
            </a:r>
            <a:r>
              <a:rPr lang="en-US" sz="185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AI-Powered Voice Assistant &amp; Multilingual Support </a:t>
            </a: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endPar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a:t>Please  add your credly certificate </a:t>
            </a:r>
            <a:endParaRPr lang="en-US" sz="2800" b="1"/>
          </a:p>
        </p:txBody>
      </p:sp>
      <p:pic>
        <p:nvPicPr>
          <p:cNvPr id="4" name="Picture 3" descr="Screenshot (962)"/>
          <p:cNvPicPr>
            <a:picLocks noChangeAspect="1"/>
          </p:cNvPicPr>
          <p:nvPr/>
        </p:nvPicPr>
        <p:blipFill>
          <a:blip r:embed="rId1"/>
          <a:stretch>
            <a:fillRect/>
          </a:stretch>
        </p:blipFill>
        <p:spPr>
          <a:xfrm>
            <a:off x="-635" y="-179070"/>
            <a:ext cx="1255204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endParaRPr lang="en-US" sz="2000" b="1"/>
          </a:p>
        </p:txBody>
      </p:sp>
      <p:pic>
        <p:nvPicPr>
          <p:cNvPr id="3" name="Picture 2" descr="Screenshot (963)"/>
          <p:cNvPicPr>
            <a:picLocks noChangeAspect="1"/>
          </p:cNvPicPr>
          <p:nvPr/>
        </p:nvPicPr>
        <p:blipFill>
          <a:blip r:embed="rId1"/>
          <a:stretch>
            <a:fillRect/>
          </a:stretch>
        </p:blipFill>
        <p:spPr>
          <a:xfrm>
            <a:off x="-128905" y="0"/>
            <a:ext cx="12632690" cy="68573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6759</Words>
  <Application>WPS Presentation</Application>
  <PresentationFormat>Widescreen</PresentationFormat>
  <Paragraphs>194</Paragraphs>
  <Slides>19</Slides>
  <Notes>15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Sujeet Sujeet</cp:lastModifiedBy>
  <cp:revision>20</cp:revision>
  <dcterms:created xsi:type="dcterms:W3CDTF">2025-07-08T05:06:00Z</dcterms:created>
  <dcterms:modified xsi:type="dcterms:W3CDTF">2026-09-27T11:05:24Z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CD09A70760234B7BA39449DA2F2F054F_12</vt:lpwstr>
  </property>
</Properties>
</file>